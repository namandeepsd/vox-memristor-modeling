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VOx Memristor: First-Principles Electro-Thermal Compact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Design, Derivation, and Validation</a:t>
            </a:r>
          </a:p>
          <a:p/>
          <a:p>
            <a:r>
              <a:t>Name: _________________ | Course: _________________ | Date: 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Aims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Derive a 3-ODE system coupling thermodynamics, phase kinetics, and parasitics.</a:t>
            </a:r>
          </a:p>
          <a:p>
            <a:pPr/>
            <a:r>
              <a:t>Implement a modular Python simulator utilizing implicit numerical solvers (Radau).</a:t>
            </a:r>
          </a:p>
          <a:p>
            <a:pPr/>
            <a:r>
              <a:t>Reproduce key experimental observations (NDR, pinched hysteresis, thermal loops).</a:t>
            </a:r>
          </a:p>
          <a:p>
            <a:pPr/>
            <a:r>
              <a:t>Validate the model against data for both voltage-biased and current-biased modes.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Voltage/Current → Joule Heating → Temperature Rise → Metal-Insulator Transition (MIT) → Metallic Growth → Resistance Change</a:t>
            </a:r>
          </a:p>
          <a:p>
            <a:r>
              <a:t>Key Transitions: T_IMT = 315 K, T_MIT = 298 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Governing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Thermal Conservation (First Law of Thermodynamics):</a:t>
            </a:r>
          </a:p>
          <a:p>
            <a:pPr lvl="1">
              <a:defRPr>
                <a:latin typeface="Courier New"/>
              </a:defRPr>
            </a:pPr>
            <a:r>
              <a:t>C_th * (dT/dt) = P_joule - G_th * (T - T_amb) - L * (dφ/dt)</a:t>
            </a:r>
          </a:p>
          <a:p>
            <a:pPr>
              <a:defRPr b="1"/>
            </a:pPr>
            <a:r>
              <a:t>Phase Kinetics (KJMA-motivated):</a:t>
            </a:r>
          </a:p>
          <a:p>
            <a:pPr lvl="1">
              <a:defRPr>
                <a:latin typeface="Courier New"/>
              </a:defRPr>
            </a:pPr>
            <a:r>
              <a:t>dφ/dt = (φ_eq(T) - φ) / τ_φ</a:t>
            </a:r>
          </a:p>
          <a:p>
            <a:pPr>
              <a:defRPr b="1"/>
            </a:pPr>
            <a:r>
              <a:t>Resistance Model (Bruggeman Effective Medium Theory):</a:t>
            </a:r>
          </a:p>
          <a:p>
            <a:pPr lvl="1">
              <a:defRPr>
                <a:latin typeface="Courier New"/>
              </a:defRPr>
            </a:pPr>
            <a:r>
              <a:t>R = f(R_insulating(T), R_metallic(T), φ)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Ideal Model: Proof-of-concept for fundamental physical mechanism.</a:t>
            </a:r>
          </a:p>
          <a:p>
            <a:pPr/>
            <a:r>
              <a:t>Real Model: Adds non-ideal semiconductor physics (Arrhenius, TCR, contact resistance).</a:t>
            </a:r>
          </a:p>
          <a:p>
            <a:pPr/>
            <a:r>
              <a:t>Advanced Model: Adds Bruggeman geometric percolation and circuit parasitics.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Codebase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vox_parameters.py: Central dataclass for physical and simulation parameters.</a:t>
            </a:r>
          </a:p>
          <a:p>
            <a:pPr/>
            <a:r>
              <a:t>vox_model.py: Core physics equations for the ideal 2-ODE model.</a:t>
            </a:r>
          </a:p>
          <a:p>
            <a:pPr/>
            <a:r>
              <a:t>vox_real_model.py: Non-ideal real model with Arrhenius conduction and metallic TCR.</a:t>
            </a:r>
          </a:p>
          <a:p>
            <a:pPr/>
            <a:r>
              <a:t>vox_advanced_model.py: 3-ODE system with Bruggeman EMT and parasitic capacitance.</a:t>
            </a:r>
          </a:p>
          <a:p>
            <a:pPr/>
            <a:r>
              <a:t>vox_solver.py: Radau implicit solver handling stiff system integration.</a:t>
            </a:r>
          </a:p>
          <a:p>
            <a:pPr/>
            <a:r>
              <a:t>vox_waveforms.py: Generators for voltage and current stimulation waveforms.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Ideal Model Results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619695" cy="60479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6400800"/>
            <a:ext cx="7619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The 4-panel dashboard demonstrates the fundamental phase transition and temperature cycling under voltage bias.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Ideal Model: R-T and I-V</a:t>
            </a:r>
          </a:p>
        </p:txBody>
      </p:sp>
      <p:pic>
        <p:nvPicPr>
          <p:cNvPr id="3" name="Picture 2" descr="r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3884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R-T loop correctly captures the metal-insulator transition.</a:t>
            </a:r>
          </a:p>
        </p:txBody>
      </p:sp>
      <p:pic>
        <p:nvPicPr>
          <p:cNvPr id="5" name="Picture 4" descr="iv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828800"/>
            <a:ext cx="5486400" cy="35109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8095" y="6400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I-V curve exhibits classic asymmetric pinched hysteresis.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Model: Physics Corrections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Arrhenius R_i: Exponentially dropping insulating resistance.</a:t>
            </a:r>
          </a:p>
          <a:p>
            <a:pPr/>
            <a:r>
              <a:t>TCR R_m: Metallic resistance increases with temperature.</a:t>
            </a:r>
          </a:p>
          <a:p>
            <a:pPr/>
            <a:r>
              <a:t>Contact Resistance: Imposes a minimum series resistance floor.</a:t>
            </a:r>
          </a:p>
          <a:p>
            <a:pPr/>
            <a:r>
              <a:t>Arrhenius τ_φ: Temperature-dependent phase relaxation time.</a:t>
            </a:r>
          </a:p>
          <a:p>
            <a:pPr/>
            <a:r>
              <a:t>Nonlinear G_th: Enhanced heat dissipation at high temperatures.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Real Model Results</a:t>
            </a:r>
          </a:p>
        </p:txBody>
      </p:sp>
      <p:pic>
        <p:nvPicPr>
          <p:cNvPr id="3" name="Picture 2" descr="real_fig2_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029200" cy="4283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Curved, non-linear pre-switching behavior introduced by Arrhenius conduction.</a:t>
            </a:r>
          </a:p>
        </p:txBody>
      </p:sp>
      <p:pic>
        <p:nvPicPr>
          <p:cNvPr id="5" name="Picture 4" descr="real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828800"/>
            <a:ext cx="5943600" cy="49235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59436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The Real Model properly bounds high-current and steady-state thermal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Model: Why It Was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Bruggeman Percolation: Replaces simplified mixing with geometric percolation thresholds.</a:t>
            </a:r>
          </a:p>
          <a:p>
            <a:pPr/>
            <a:r>
              <a:t>Circuit Parasitics: Introduces parasitic capacitance in a stiff 3-ODE system, producing sharp snap-backs.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Advanced Model Results: NDR</a:t>
            </a:r>
          </a:p>
        </p:txBody>
      </p:sp>
      <p:pic>
        <p:nvPicPr>
          <p:cNvPr id="3" name="Picture 2" descr="reproduced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44364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Model closely reproduces the experimental S-shaped NDR curve.</a:t>
            </a:r>
          </a:p>
        </p:txBody>
      </p:sp>
      <p:pic>
        <p:nvPicPr>
          <p:cNvPr id="5" name="Picture 4" descr="adv_fig3_ND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02920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59436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Phase kinetics lag triggers the sharp snap-back hysteresis under current bias.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Advanced Model Results: Amplitude Sweeps</a:t>
            </a:r>
          </a:p>
        </p:txBody>
      </p:sp>
      <p:pic>
        <p:nvPicPr>
          <p:cNvPr id="3" name="Picture 2" descr="adv_fig5_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619695" cy="5079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6400800"/>
            <a:ext cx="7619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Amplitude-dependent progression effectively captures saturation at ~3-4V under varying current limits.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Advanced Model Results: Cycle-to-Cycle Memory</a:t>
            </a:r>
          </a:p>
        </p:txBody>
      </p:sp>
      <p:pic>
        <p:nvPicPr>
          <p:cNvPr id="3" name="Picture 2" descr="reproduced_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790895" cy="50241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0" y="612648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Cycle 1 traces a wider outer loop due to phase memory; cycles 2-10 cluster tightly inside.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Advanced Dashboard</a:t>
            </a:r>
          </a:p>
        </p:txBody>
      </p:sp>
      <p:pic>
        <p:nvPicPr>
          <p:cNvPr id="3" name="Picture 2" descr="adv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619695" cy="6349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6400800"/>
            <a:ext cx="7619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The 3-ODE Advanced Model incorporates percolation and parasitic capacitance to capture experimental measurement conditions.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19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09390"/>
                <a:gridCol w="380939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Paper 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Performance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Voltage 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~3-4 V at 20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~3 V at 20 mA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Hysteresis 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15-20 K 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 K span (315 K to 298 K)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Switching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NDR snap-back near ~0.5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Closely reproduces near ~0.5 mA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Resistance Span Trade-off: Model captures ~2.5 orders of magnitude vs. the paper's ~3 to prioritize accurate 2-4V switching thresholds.</a:t>
            </a:r>
          </a:p>
          <a:p>
            <a:pPr/>
            <a:r>
              <a:t>Geometric Simplifications: 0D lumped-element approach lacks spatial filament expansion, making mathematical transitions sharper than reality.</a:t>
            </a:r>
          </a:p>
          <a:p>
            <a:pPr/>
            <a:r>
              <a:t>Semiconducting Pre-Conduction: The ideal model lacks Arrhenius conduction, yielding a perfectly linear pre-switching curve.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Ideal Model: Validates the fundamental physical mechanism utilizing minimal assumptions.</a:t>
            </a:r>
          </a:p>
          <a:p>
            <a:pPr/>
            <a:r>
              <a:t>Real Model: Incorporates non-ideal semiconductor physics to achieve quantitative experimental agreement.</a:t>
            </a:r>
          </a:p>
          <a:p>
            <a:pPr/>
            <a:r>
              <a:t>Advanced Model: Leverages Bruggeman percolation and circuit parasitics to mimic non-linear measurement realities.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Rana, A.S., del Valle, J. et al., "Symmetric and tunable resistive switching in VO2 memristors," Scientific Reports 10, 3293 (2020), https://doi.org/10.1038/s41598-020-60373-z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